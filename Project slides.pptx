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6" r:id="rId2"/>
    <p:sldId id="280" r:id="rId3"/>
    <p:sldId id="281" r:id="rId4"/>
    <p:sldId id="282" r:id="rId5"/>
    <p:sldId id="277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026"/>
    <a:srgbClr val="FF254F"/>
    <a:srgbClr val="93001B"/>
    <a:srgbClr val="FFD814"/>
    <a:srgbClr val="EB098E"/>
    <a:srgbClr val="FFC819"/>
    <a:srgbClr val="FFD653"/>
    <a:srgbClr val="06AF8F"/>
    <a:srgbClr val="ECBB08"/>
    <a:srgbClr val="FDD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15" autoAdjust="0"/>
  </p:normalViewPr>
  <p:slideViewPr>
    <p:cSldViewPr snapToGrid="0">
      <p:cViewPr>
        <p:scale>
          <a:sx n="100" d="100"/>
          <a:sy n="100" d="100"/>
        </p:scale>
        <p:origin x="9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663BC-A773-41DC-AA7D-1313C2A1A48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34958-DA41-4CBA-ADE8-B0E998D7C1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138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AA7F-C951-0960-EE4D-908067424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D39E9-6797-C437-45D1-45EC02A9B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28FC-297A-1FB8-F19E-D3B2E2CC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5117-B302-C1C4-579D-D9133033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844-F57C-A24F-B09B-4359C434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015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F604-D763-04CB-F1DD-A81804CA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383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D592-9BC5-1701-E8BE-8FD6A6D26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882"/>
            <a:ext cx="10515600" cy="4527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AD867-BF20-D606-FF52-570834B7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668D-6B0F-A456-FCD2-D20E8FFC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F014-6B9F-1E31-E6E0-718A804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743A9AFC-EE88-63AD-B46D-00D58E9ECDB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27694822"/>
              </p:ext>
            </p:extLst>
          </p:nvPr>
        </p:nvGraphicFramePr>
        <p:xfrm>
          <a:off x="0" y="6375928"/>
          <a:ext cx="12192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441639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349903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062447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67773276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Introduction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Customer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Channels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Products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Recommendations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D22B99-0752-6239-C18D-4FC845271D2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3886183"/>
              </p:ext>
            </p:extLst>
          </p:nvPr>
        </p:nvGraphicFramePr>
        <p:xfrm>
          <a:off x="0" y="-17719"/>
          <a:ext cx="12195543" cy="151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5543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</a:tblGrid>
              <a:tr h="1519064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154210-923A-A5AD-B416-4878A4E6A04B}"/>
              </a:ext>
            </a:extLst>
          </p:cNvPr>
          <p:cNvSpPr txBox="1"/>
          <p:nvPr userDrawn="1"/>
        </p:nvSpPr>
        <p:spPr>
          <a:xfrm>
            <a:off x="11120873" y="-13330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10000"/>
                    </a:schemeClr>
                  </a:glow>
                </a:effectLst>
                <a:latin typeface="Sinete" pitchFamily="50" charset="0"/>
              </a:rPr>
              <a:t>Kiki Wu</a:t>
            </a:r>
            <a:endParaRPr lang="en-CA" sz="2000" dirty="0">
              <a:solidFill>
                <a:schemeClr val="bg2">
                  <a:lumMod val="75000"/>
                </a:schemeClr>
              </a:solidFill>
              <a:effectLst>
                <a:glow rad="63500">
                  <a:schemeClr val="accent5">
                    <a:satMod val="175000"/>
                    <a:alpha val="10000"/>
                  </a:schemeClr>
                </a:glow>
              </a:effectLst>
              <a:latin typeface="Sinete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5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B5BD-F42A-F126-8579-3BC28895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C8486-EF58-18F0-8CFB-2F8A8DE5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D0B6-3250-FC6B-508E-34C76FAA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4645D-83F0-24B0-FF38-9B010B10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63A3-A486-E6E2-EDA4-0CA2EF6D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724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10C2-D431-617E-193C-6981A0C3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10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AE1A-7DCA-4564-17F0-5568A6520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76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E72E-965B-BFA9-D811-8EF44D077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87609"/>
            <a:ext cx="5181600" cy="4351338"/>
          </a:xfrm>
        </p:spPr>
        <p:txBody>
          <a:bodyPr/>
          <a:lstStyle>
            <a:lvl1pPr>
              <a:lnSpc>
                <a:spcPct val="200000"/>
              </a:lnSpc>
              <a:defRPr/>
            </a:lvl1pPr>
            <a:lvl2pPr>
              <a:lnSpc>
                <a:spcPct val="200000"/>
              </a:lnSpc>
              <a:defRPr/>
            </a:lvl2pPr>
            <a:lvl3pPr>
              <a:lnSpc>
                <a:spcPct val="200000"/>
              </a:lnSpc>
              <a:defRPr/>
            </a:lvl3pPr>
            <a:lvl4pPr>
              <a:lnSpc>
                <a:spcPct val="200000"/>
              </a:lnSpc>
              <a:defRPr/>
            </a:lvl4pPr>
            <a:lvl5pPr>
              <a:lnSpc>
                <a:spcPct val="2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347D-91EA-7D43-3A36-164CEC46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167AE-5567-12D6-21CE-62A1C4D6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E9D6E-C407-09E3-45D1-8D158CB7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794802AB-2FF9-7F51-82A6-00F276387C9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2208633"/>
              </p:ext>
            </p:extLst>
          </p:nvPr>
        </p:nvGraphicFramePr>
        <p:xfrm>
          <a:off x="0" y="6375928"/>
          <a:ext cx="12192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441639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349903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062447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67773276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Introduction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Customer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Channels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Products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Recommendations</a:t>
                      </a: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8EAA9A-ACCC-190A-AA53-F947B76FC69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66303575"/>
              </p:ext>
            </p:extLst>
          </p:nvPr>
        </p:nvGraphicFramePr>
        <p:xfrm>
          <a:off x="0" y="-17719"/>
          <a:ext cx="12195543" cy="151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5543">
                  <a:extLst>
                    <a:ext uri="{9D8B030D-6E8A-4147-A177-3AD203B41FA5}">
                      <a16:colId xmlns:a16="http://schemas.microsoft.com/office/drawing/2014/main" val="240948501"/>
                    </a:ext>
                  </a:extLst>
                </a:gridCol>
              </a:tblGrid>
              <a:tr h="1519064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30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45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0D6F4FB-8EB2-E03D-1B0C-F318785B2EDD}"/>
              </a:ext>
            </a:extLst>
          </p:cNvPr>
          <p:cNvSpPr txBox="1"/>
          <p:nvPr userDrawn="1"/>
        </p:nvSpPr>
        <p:spPr>
          <a:xfrm>
            <a:off x="11120873" y="-13330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10000"/>
                    </a:schemeClr>
                  </a:glow>
                </a:effectLst>
                <a:latin typeface="Sinete" pitchFamily="50" charset="0"/>
              </a:rPr>
              <a:t>Kiki Wu</a:t>
            </a:r>
            <a:endParaRPr lang="en-CA" sz="2000" dirty="0">
              <a:solidFill>
                <a:schemeClr val="bg2">
                  <a:lumMod val="75000"/>
                </a:schemeClr>
              </a:solidFill>
              <a:effectLst>
                <a:glow rad="63500">
                  <a:schemeClr val="accent5">
                    <a:satMod val="175000"/>
                    <a:alpha val="10000"/>
                  </a:schemeClr>
                </a:glow>
              </a:effectLst>
              <a:latin typeface="Sinete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9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86FC-16CB-3A3D-A507-FC57062E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F74CA-7521-88FF-F456-5128156E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6F789-A9DF-1317-6491-888D7C2C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8BD94-7291-98F4-A217-5F890680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C7C7E-0A49-91EB-119C-9C87BA62E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60AD2-E33C-9D6E-45A7-5409EAA8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23109-58AF-8B9C-E110-39B53E3C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741EC-6494-95D1-B250-CA8263CA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656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B309-6CA1-0445-33FB-489A3991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CE1E5-E67C-8DE4-227A-074FA199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77002-CBF6-2BDD-4823-CC3983F6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7C9C9-B10C-12A2-7569-6706F102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17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16BBA-D954-BBF1-6994-A8FF2947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3BB2F-A1FE-06BA-8E73-C3A2987F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16E0B-D46C-0891-010A-1DFC4EEA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18CE-0202-CCCB-D1B2-02A73074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5BB2-0260-C682-3957-60476B790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AA1D9-0FF1-EABE-83BA-B7108BDF4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834E8-488E-6585-C5CA-F2C56B7C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AE489-DB36-3B66-657E-3FF88CB6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3F6EC-36C2-C564-73E1-E4E50677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2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9A0C-17E4-9FFE-53B9-E92A1639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F2B8B-7164-0C5B-0D4F-3C64BEB10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409EF-E6F8-CBE9-4FB6-2AD4596B5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B181E-955B-84BB-E78C-D9DF6238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763C6-FBAF-5251-076B-AD25149D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80C07-0440-9CCF-0D49-79B45159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4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6796-B789-4B93-15CC-6B18BB75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81EF5-63C3-F965-C16B-63E878EAC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600E-554B-9C41-BDE8-27343B6B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66CC-1374-17BD-063F-6C458B85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F1ED4-A147-9E2D-E5C9-FF6906A0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101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64920-3FE4-3600-3286-E66448CB5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5C43-FB26-10C5-C51A-E0D3C3ECE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56C0-D6A2-7D4F-03EA-FF906073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0781-108B-9B83-21E0-674A379C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2500-8C9F-C9DE-F810-FB0B825E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38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F075E-806F-BA59-385C-90F49694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AF8A7-759E-92DD-CC00-0753B233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3EE97-9675-62A6-AD95-2D4959BE2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CDCA7-3B90-403C-B89A-DCF2D983E27C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5D991-A2E9-AEDD-418D-2511BA41F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DCB8C-43D4-933F-1F7F-FA75D6751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2C73B-71C6-4286-9D4D-C48561D2F2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58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svg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314B1-1637-36EE-9297-AF935294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6194" y="1695116"/>
            <a:ext cx="5330952" cy="469468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Clr>
                <a:schemeClr val="bg1"/>
              </a:buClr>
            </a:pPr>
            <a:r>
              <a:rPr lang="en-US" dirty="0"/>
              <a:t> </a:t>
            </a:r>
            <a:r>
              <a:rPr lang="en-US" b="1" dirty="0"/>
              <a:t>Dataset</a:t>
            </a:r>
            <a:r>
              <a:rPr lang="en-US" dirty="0"/>
              <a:t>: 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Marketing campaign data </a:t>
            </a:r>
            <a:r>
              <a:rPr lang="en-US" sz="1900" dirty="0"/>
              <a:t>(Source: Maven Marketing)</a:t>
            </a:r>
            <a:endParaRPr lang="en-US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2,240 customers</a:t>
            </a:r>
            <a:endParaRPr lang="en-US" sz="1900" dirty="0"/>
          </a:p>
          <a:p>
            <a:pPr>
              <a:lnSpc>
                <a:spcPct val="110000"/>
              </a:lnSpc>
              <a:buClr>
                <a:schemeClr val="bg1"/>
              </a:buClr>
            </a:pPr>
            <a:r>
              <a:rPr lang="en-US" b="1" dirty="0"/>
              <a:t> Goal</a:t>
            </a:r>
            <a:r>
              <a:rPr lang="en-US" dirty="0"/>
              <a:t>:</a:t>
            </a:r>
          </a:p>
          <a:p>
            <a:pPr>
              <a:lnSpc>
                <a:spcPct val="11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 To provide recommendations 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Grow digital revenue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Boost online conversions</a:t>
            </a:r>
          </a:p>
          <a:p>
            <a:pPr>
              <a:lnSpc>
                <a:spcPct val="110000"/>
              </a:lnSpc>
              <a:buClr>
                <a:schemeClr val="bg1"/>
              </a:buClr>
            </a:pPr>
            <a:r>
              <a:rPr lang="en-US" b="1" dirty="0"/>
              <a:t> Analysis focus</a:t>
            </a:r>
            <a:r>
              <a:rPr lang="en-US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Key customer group(s)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Channel performance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Product categories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DEB79-CC04-A283-4D19-10811404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58FDA3-3C0F-223D-B682-41935EAB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27" y="1898845"/>
            <a:ext cx="4181713" cy="3928866"/>
          </a:xfrm>
          <a:prstGeom prst="rect">
            <a:avLst/>
          </a:prstGeom>
        </p:spPr>
      </p:pic>
      <p:pic>
        <p:nvPicPr>
          <p:cNvPr id="11" name="Graphic 10" descr="Play with solid fill">
            <a:extLst>
              <a:ext uri="{FF2B5EF4-FFF2-40B4-BE49-F238E27FC236}">
                <a16:creationId xmlns:a16="http://schemas.microsoft.com/office/drawing/2014/main" id="{60C0308F-7FD0-312C-DB07-D25C96DAE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771" y="6400583"/>
            <a:ext cx="264869" cy="26486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14E454A-7BFA-04B2-D89E-3A79AA819037}"/>
              </a:ext>
            </a:extLst>
          </p:cNvPr>
          <p:cNvGrpSpPr/>
          <p:nvPr/>
        </p:nvGrpSpPr>
        <p:grpSpPr>
          <a:xfrm rot="21110597">
            <a:off x="3892626" y="3442064"/>
            <a:ext cx="1957597" cy="2529996"/>
            <a:chOff x="4026161" y="3231752"/>
            <a:chExt cx="1957597" cy="252999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781E552-B18C-2723-F4D8-07C356D9A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667" b="96000" l="6977" r="90000">
                          <a14:foregroundMark x1="76744" y1="25867" x2="76744" y2="25867"/>
                          <a14:foregroundMark x1="75581" y1="37867" x2="75581" y2="37867"/>
                          <a14:foregroundMark x1="76047" y1="49600" x2="76047" y2="49600"/>
                          <a14:foregroundMark x1="76047" y1="64000" x2="76047" y2="64000"/>
                          <a14:foregroundMark x1="75814" y1="74933" x2="75814" y2="74933"/>
                          <a14:foregroundMark x1="89767" y1="39467" x2="89767" y2="39467"/>
                          <a14:foregroundMark x1="53023" y1="6667" x2="53023" y2="6667"/>
                          <a14:foregroundMark x1="6977" y1="28800" x2="6977" y2="28800"/>
                          <a14:foregroundMark x1="49302" y1="96000" x2="49302" y2="96000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780210">
              <a:off x="4026161" y="4240484"/>
              <a:ext cx="1744382" cy="1521264"/>
            </a:xfrm>
            <a:prstGeom prst="rect">
              <a:avLst/>
            </a:prstGeom>
          </p:spPr>
        </p:pic>
        <p:pic>
          <p:nvPicPr>
            <p:cNvPr id="1028" name="Picture 4" descr="Hardhat Vector Images – Browse 184,373 Stock Photos, Vectors, and Video |  Adobe Stock">
              <a:extLst>
                <a:ext uri="{FF2B5EF4-FFF2-40B4-BE49-F238E27FC236}">
                  <a16:creationId xmlns:a16="http://schemas.microsoft.com/office/drawing/2014/main" id="{05402437-96CA-3903-0BC7-10B5D7A3F2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75556" y1="39722" x2="75556" y2="39722"/>
                        </a14:backgroundRemoval>
                      </a14:imgEffect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27311">
              <a:off x="4177818" y="3231752"/>
              <a:ext cx="1805940" cy="1805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Graphic 24" descr="Tools with solid fill">
            <a:extLst>
              <a:ext uri="{FF2B5EF4-FFF2-40B4-BE49-F238E27FC236}">
                <a16:creationId xmlns:a16="http://schemas.microsoft.com/office/drawing/2014/main" id="{5DF2BE12-A743-36F1-8561-89431C3280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6916" y="4209637"/>
            <a:ext cx="914400" cy="914400"/>
          </a:xfrm>
          <a:prstGeom prst="rect">
            <a:avLst/>
          </a:prstGeom>
        </p:spPr>
      </p:pic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0D4E2B12-4DB6-3B2E-D0EA-F38E530C37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8316" y="2982683"/>
            <a:ext cx="516155" cy="516155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4F68883B-A1E4-03BA-EA8D-5E8BC397B4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48316" y="1656802"/>
            <a:ext cx="516155" cy="516155"/>
          </a:xfrm>
          <a:prstGeom prst="rect">
            <a:avLst/>
          </a:prstGeom>
        </p:spPr>
      </p:pic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0021F768-1C36-634A-64AC-4D60509E442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6093106" y="4742761"/>
            <a:ext cx="426575" cy="42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3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2403-980D-E01C-D1C0-7FFBFF6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average Maven customer look like?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9079D-D7CD-B615-D10E-1B71CF4D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37943"/>
            <a:ext cx="5181600" cy="42010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dirty="0"/>
              <a:t>In mid-50s</a:t>
            </a:r>
          </a:p>
          <a:p>
            <a:pPr>
              <a:lnSpc>
                <a:spcPct val="100000"/>
              </a:lnSpc>
            </a:pPr>
            <a:r>
              <a:rPr lang="en-CA" dirty="0"/>
              <a:t>Married</a:t>
            </a:r>
          </a:p>
          <a:p>
            <a:pPr>
              <a:lnSpc>
                <a:spcPct val="100000"/>
              </a:lnSpc>
            </a:pPr>
            <a:r>
              <a:rPr lang="en-CA" dirty="0"/>
              <a:t>Graduate</a:t>
            </a:r>
          </a:p>
          <a:p>
            <a:pPr>
              <a:lnSpc>
                <a:spcPct val="100000"/>
              </a:lnSpc>
            </a:pPr>
            <a:r>
              <a:rPr lang="en-CA" dirty="0"/>
              <a:t>Often has children/teens at home</a:t>
            </a:r>
          </a:p>
          <a:p>
            <a:pPr>
              <a:lnSpc>
                <a:spcPct val="100000"/>
              </a:lnSpc>
            </a:pPr>
            <a:r>
              <a:rPr lang="en-CA" dirty="0"/>
              <a:t>Top geographies: Spain, Saudi and Canada</a:t>
            </a:r>
          </a:p>
          <a:p>
            <a:pPr>
              <a:lnSpc>
                <a:spcPct val="200000"/>
              </a:lnSpc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83E2855-B2E6-DB65-39AE-9FA0FE9941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8523" y="1961517"/>
            <a:ext cx="3600953" cy="44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166A68-CF18-2AEB-22D0-9AA3EF6B1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83" y="2475010"/>
            <a:ext cx="2359727" cy="1223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EEDD4-3E4A-FA1E-7499-648C036A7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88" y="2465484"/>
            <a:ext cx="1956800" cy="12294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B1AE79-C135-6FD0-6C6C-AF75E3321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649" y="3947894"/>
            <a:ext cx="3798700" cy="22443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A16AF5-8FBA-099B-CB1B-5ED89E848F57}"/>
              </a:ext>
            </a:extLst>
          </p:cNvPr>
          <p:cNvSpPr/>
          <p:nvPr/>
        </p:nvSpPr>
        <p:spPr>
          <a:xfrm>
            <a:off x="619124" y="1897416"/>
            <a:ext cx="5059300" cy="957825"/>
          </a:xfrm>
          <a:prstGeom prst="roundRect">
            <a:avLst>
              <a:gd name="adj" fmla="val 40357"/>
            </a:avLst>
          </a:prstGeom>
          <a:noFill/>
          <a:ln w="82550">
            <a:solidFill>
              <a:srgbClr val="FFD814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F88620B7-B628-11F9-03FD-F614BCEB0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20594" y="1822614"/>
            <a:ext cx="831273" cy="83127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raphic 4" descr="Play with solid fill">
            <a:extLst>
              <a:ext uri="{FF2B5EF4-FFF2-40B4-BE49-F238E27FC236}">
                <a16:creationId xmlns:a16="http://schemas.microsoft.com/office/drawing/2014/main" id="{551896D6-6CBC-5355-344F-BEBF949EFC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965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0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B170-63BF-490A-30E5-199385CB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customer group</a:t>
            </a:r>
            <a:endParaRPr lang="en-CA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B126D7D-24AC-9DFE-029A-6C58F76BB5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350" y="1704442"/>
            <a:ext cx="5699760" cy="33009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EBB26-BF1C-1092-46DC-14C49261E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704" y="1687609"/>
            <a:ext cx="5842591" cy="378815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CA" dirty="0"/>
              <a:t>In fact, this single group generates </a:t>
            </a:r>
            <a:r>
              <a:rPr lang="en-CA" b="1" i="1" dirty="0"/>
              <a:t>16.9%</a:t>
            </a:r>
            <a:r>
              <a:rPr lang="en-CA" dirty="0"/>
              <a:t> of Maven’s total revenue</a:t>
            </a:r>
          </a:p>
          <a:p>
            <a:pPr>
              <a:lnSpc>
                <a:spcPct val="200000"/>
              </a:lnSpc>
            </a:pPr>
            <a:r>
              <a:rPr lang="en-CA" dirty="0"/>
              <a:t>This key segment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Earns income of 52-77k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Age 47-56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CA" dirty="0"/>
              <a:t>Prioritize marketing efforts, crucial growth driver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CA" dirty="0"/>
          </a:p>
          <a:p>
            <a:endParaRPr lang="en-CA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14F67E-33B1-D9D4-E07A-B9DEEE725B7E}"/>
              </a:ext>
            </a:extLst>
          </p:cNvPr>
          <p:cNvGrpSpPr/>
          <p:nvPr/>
        </p:nvGrpSpPr>
        <p:grpSpPr>
          <a:xfrm>
            <a:off x="999167" y="4788825"/>
            <a:ext cx="10101224" cy="1444000"/>
            <a:chOff x="999167" y="4788825"/>
            <a:chExt cx="10101224" cy="1444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E8A2B5-3834-9115-D5C8-CEE345113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5000"/>
            </a:blip>
            <a:stretch>
              <a:fillRect/>
            </a:stretch>
          </p:blipFill>
          <p:spPr>
            <a:xfrm>
              <a:off x="999167" y="4788825"/>
              <a:ext cx="4854126" cy="14440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13858A-F968-7769-638B-7CA8AC3DCC12}"/>
                </a:ext>
              </a:extLst>
            </p:cNvPr>
            <p:cNvSpPr txBox="1"/>
            <p:nvPr/>
          </p:nvSpPr>
          <p:spPr>
            <a:xfrm>
              <a:off x="6012704" y="5698564"/>
              <a:ext cx="5087687" cy="390942"/>
            </a:xfrm>
            <a:prstGeom prst="roundRect">
              <a:avLst>
                <a:gd name="adj" fmla="val 23912"/>
              </a:avLst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effectLst>
              <a:glow rad="63500">
                <a:schemeClr val="accent6">
                  <a:satMod val="175000"/>
                  <a:alpha val="2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</a:rPr>
                <a:t>Fig.1 </a:t>
              </a:r>
              <a:r>
                <a:rPr lang="en-US" sz="1600" dirty="0">
                  <a:ln w="635">
                    <a:solidFill>
                      <a:schemeClr val="tx1"/>
                    </a:solidFill>
                  </a:ln>
                  <a:latin typeface="Consolas" panose="020B0609020204030204" pitchFamily="49" charset="0"/>
                </a:rPr>
                <a:t>Crosstabs analysis of revenue streams</a:t>
              </a:r>
              <a:endParaRPr lang="en-CA" sz="1600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endParaRPr>
            </a:p>
          </p:txBody>
        </p:sp>
      </p:grpSp>
      <p:pic>
        <p:nvPicPr>
          <p:cNvPr id="7" name="Graphic 6" descr="Play with solid fill">
            <a:extLst>
              <a:ext uri="{FF2B5EF4-FFF2-40B4-BE49-F238E27FC236}">
                <a16:creationId xmlns:a16="http://schemas.microsoft.com/office/drawing/2014/main" id="{A74676AC-B756-A381-0BCB-E8E154DCF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65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5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5D8B-C260-D08A-4EC7-AF5A8A49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channels are most salient to this group?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84303-5CD0-C4D1-A386-2DAE06897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0920" y="1687609"/>
            <a:ext cx="3992880" cy="3171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alpha val="95000"/>
                  </a:schemeClr>
                </a:solidFill>
              </a:rPr>
              <a:t>In-store and Web purchases outperform</a:t>
            </a:r>
          </a:p>
          <a:p>
            <a:pPr>
              <a:lnSpc>
                <a:spcPct val="100000"/>
              </a:lnSpc>
            </a:pPr>
            <a:r>
              <a:rPr lang="en-CA" dirty="0">
                <a:solidFill>
                  <a:schemeClr val="tx1">
                    <a:alpha val="95000"/>
                  </a:schemeClr>
                </a:solidFill>
              </a:rPr>
              <a:t>Next we’ll take a deep dive into web purchases in our dataset…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74F10B-EFEA-3C4C-FA03-4A3E3C605262}"/>
              </a:ext>
            </a:extLst>
          </p:cNvPr>
          <p:cNvGrpSpPr/>
          <p:nvPr/>
        </p:nvGrpSpPr>
        <p:grpSpPr>
          <a:xfrm>
            <a:off x="1031360" y="1762040"/>
            <a:ext cx="5529970" cy="4142883"/>
            <a:chOff x="1031360" y="1687609"/>
            <a:chExt cx="5529970" cy="4142883"/>
          </a:xfrm>
        </p:grpSpPr>
        <p:pic>
          <p:nvPicPr>
            <p:cNvPr id="11" name="Content Placeholder 10">
              <a:extLst>
                <a:ext uri="{FF2B5EF4-FFF2-40B4-BE49-F238E27FC236}">
                  <a16:creationId xmlns:a16="http://schemas.microsoft.com/office/drawing/2014/main" id="{6E35CAC8-9CC8-847F-B411-9FA03AEE3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3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1360" y="1687609"/>
              <a:ext cx="5529970" cy="351815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0601AAE-F604-7248-078E-C0C9B357BE3A}"/>
                </a:ext>
              </a:extLst>
            </p:cNvPr>
            <p:cNvSpPr txBox="1"/>
            <p:nvPr/>
          </p:nvSpPr>
          <p:spPr>
            <a:xfrm>
              <a:off x="1159578" y="5084149"/>
              <a:ext cx="4167340" cy="746343"/>
            </a:xfrm>
            <a:prstGeom prst="roundRect">
              <a:avLst>
                <a:gd name="adj" fmla="val 23912"/>
              </a:avLst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effectLst>
              <a:glow rad="63500">
                <a:schemeClr val="accent6">
                  <a:satMod val="175000"/>
                  <a:alpha val="2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Fig2. </a:t>
              </a:r>
              <a:r>
                <a:rPr lang="en-US" dirty="0">
                  <a:ln w="635">
                    <a:solidFill>
                      <a:schemeClr val="tx1"/>
                    </a:solidFill>
                  </a:ln>
                  <a:latin typeface="Consolas" panose="020B0609020204030204" pitchFamily="49" charset="0"/>
                </a:rPr>
                <a:t>PivotChart and PivotTable channel analysis</a:t>
              </a:r>
              <a:endParaRPr lang="en-CA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FA92E0B-B987-5045-C223-8570C6FFFE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5420425" y="4864549"/>
            <a:ext cx="6449325" cy="1133633"/>
          </a:xfrm>
          <a:prstGeom prst="rect">
            <a:avLst/>
          </a:prstGeom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00026D64-5894-F5CE-6233-0B076D541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4440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9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7551-D66E-EAB3-8EF6-839EFEED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B0C574-C645-20E1-A540-F1E7A843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are good predictors of web purchases?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8737BE-6CB4-1E5C-B35B-657E29A8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008" y="1684026"/>
            <a:ext cx="7510272" cy="4527509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Two positive correlations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Number of store purchases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Cross-channel buyers 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(</a:t>
            </a:r>
            <a:r>
              <a:rPr lang="en-CA" dirty="0" err="1">
                <a:solidFill>
                  <a:schemeClr val="tx1">
                    <a:alpha val="90000"/>
                  </a:schemeClr>
                </a:solidFill>
              </a:rPr>
              <a:t>coef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 ≈ +0.0420, p &lt; 0.001)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Spend on wines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Higher wine spend is associated with more web purchases. (coefficient ≈ +0.0006, p &lt; 0.001)</a:t>
            </a:r>
          </a:p>
          <a:p>
            <a:r>
              <a:rPr lang="en-US" b="1" dirty="0">
                <a:solidFill>
                  <a:schemeClr val="tx1">
                    <a:alpha val="90000"/>
                  </a:schemeClr>
                </a:solidFill>
              </a:rPr>
              <a:t>One negative correlation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Number of catalog purchases (</a:t>
            </a:r>
            <a:r>
              <a:rPr lang="en-US" dirty="0" err="1">
                <a:solidFill>
                  <a:schemeClr val="tx1">
                    <a:alpha val="90000"/>
                  </a:schemeClr>
                </a:solidFill>
              </a:rPr>
              <a:t>coef</a:t>
            </a: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 ≈ −0.0155, p ≈ 0.003)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90000"/>
                  </a:schemeClr>
                </a:solidFill>
              </a:rPr>
              <a:t>More catalog purchases are slightly associated with fewer web purchases. 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Suggesting the </a:t>
            </a:r>
            <a:r>
              <a:rPr lang="en-CA" b="1" dirty="0">
                <a:solidFill>
                  <a:schemeClr val="tx1">
                    <a:alpha val="90000"/>
                  </a:schemeClr>
                </a:solidFill>
              </a:rPr>
              <a:t>catalog channel underperforms for driving web purchases.</a:t>
            </a:r>
            <a:r>
              <a:rPr lang="en-CA" dirty="0">
                <a:solidFill>
                  <a:schemeClr val="tx1">
                    <a:alpha val="90000"/>
                  </a:schemeClr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3F021E-8E3E-D1A2-393B-21B38C6AB8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b="29911"/>
          <a:stretch>
            <a:fillRect/>
          </a:stretch>
        </p:blipFill>
        <p:spPr>
          <a:xfrm>
            <a:off x="1074096" y="2024172"/>
            <a:ext cx="2324424" cy="2537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A2A4A7-8769-8103-49CE-293B58BC03AF}"/>
              </a:ext>
            </a:extLst>
          </p:cNvPr>
          <p:cNvSpPr txBox="1"/>
          <p:nvPr/>
        </p:nvSpPr>
        <p:spPr>
          <a:xfrm>
            <a:off x="807720" y="4753073"/>
            <a:ext cx="3338977" cy="746343"/>
          </a:xfrm>
          <a:prstGeom prst="roundRect">
            <a:avLst>
              <a:gd name="adj" fmla="val 23912"/>
            </a:avLst>
          </a:prstGeom>
          <a:solidFill>
            <a:schemeClr val="accent6">
              <a:lumMod val="40000"/>
              <a:lumOff val="60000"/>
              <a:alpha val="70000"/>
            </a:schemeClr>
          </a:solidFill>
          <a:effectLst>
            <a:glow rad="63500">
              <a:schemeClr val="accent6">
                <a:satMod val="175000"/>
                <a:alpha val="2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Fig3. </a:t>
            </a:r>
            <a:r>
              <a:rPr lang="en-US" dirty="0">
                <a:ln w="635"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Poisson regression using Python add-in</a:t>
            </a:r>
            <a:endParaRPr lang="en-CA" dirty="0">
              <a:ln w="635">
                <a:solidFill>
                  <a:schemeClr val="tx1"/>
                </a:solidFill>
              </a:ln>
              <a:latin typeface="Consolas" panose="020B0609020204030204" pitchFamily="49" charset="0"/>
            </a:endParaRPr>
          </a:p>
        </p:txBody>
      </p:sp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AD999009-A99D-6A1C-3C6F-4E15927DD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4440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0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2" descr="A graph showing a bar chart&#10;&#10;AI-generated content may be incorrect.">
            <a:extLst>
              <a:ext uri="{FF2B5EF4-FFF2-40B4-BE49-F238E27FC236}">
                <a16:creationId xmlns:a16="http://schemas.microsoft.com/office/drawing/2014/main" id="{780E6413-2CFD-2ECE-E6AC-7CEAAE2068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2438242"/>
            <a:ext cx="5699760" cy="284987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9F25D-EA7F-097F-EA66-B9F26B8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products are performing best?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DED79-7E62-1CF3-34FE-90E71F683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52201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CA" dirty="0"/>
              <a:t>Wine and Meat are the highest-revenue categories</a:t>
            </a:r>
          </a:p>
          <a:p>
            <a:pPr>
              <a:lnSpc>
                <a:spcPct val="120000"/>
              </a:lnSpc>
            </a:pPr>
            <a:r>
              <a:rPr lang="en-CA" dirty="0"/>
              <a:t>Wine also strongly predicts increased web purchases, so it’s a strategic priority for web promotions and cross-sell.</a:t>
            </a:r>
          </a:p>
          <a:p>
            <a:endParaRPr lang="en-C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DF91FA-55EA-FED9-B98B-90258B217937}"/>
              </a:ext>
            </a:extLst>
          </p:cNvPr>
          <p:cNvSpPr/>
          <p:nvPr/>
        </p:nvSpPr>
        <p:spPr>
          <a:xfrm>
            <a:off x="1440873" y="2309090"/>
            <a:ext cx="1576092" cy="2617751"/>
          </a:xfrm>
          <a:prstGeom prst="roundRect">
            <a:avLst/>
          </a:prstGeom>
          <a:noFill/>
          <a:ln w="82550">
            <a:solidFill>
              <a:srgbClr val="06AF8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B87CFBF7-72C7-4FEE-0695-970123BCFA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414489">
            <a:off x="774995" y="1666555"/>
            <a:ext cx="1043551" cy="1043551"/>
          </a:xfrm>
          <a:prstGeom prst="rect">
            <a:avLst/>
          </a:prstGeom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783FED2C-F5A9-D6A6-1C56-2C15D74053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521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3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207D9-6A5A-3ADA-2EE3-956E160B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22" y="4528871"/>
            <a:ext cx="4538786" cy="1509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1483C-9C63-4237-FA2E-75FBD55B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Actionable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9F4A-BAF9-9FE9-E3BC-2E6E70D4B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715826"/>
            <a:ext cx="6725171" cy="452750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Double down on </a:t>
            </a:r>
            <a:r>
              <a:rPr lang="en-US" b="1" dirty="0"/>
              <a:t>wine</a:t>
            </a:r>
            <a:r>
              <a:rPr lang="en-US" dirty="0"/>
              <a:t>-focused online promotions.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Bundle with web-only offers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Targeted emails showcasing wines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Cross-sell widgets on product pages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Rationale: 🍷 Top revenue driver, strongly predict web purchases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Cross-sell </a:t>
            </a:r>
            <a:r>
              <a:rPr lang="en-CA" b="1" dirty="0"/>
              <a:t>store buyers </a:t>
            </a:r>
            <a:r>
              <a:rPr lang="en-CA" dirty="0"/>
              <a:t>online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Using in-store receipts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Loyalty messaging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Push online offers and subscriptions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Rationale: </a:t>
            </a:r>
            <a:r>
              <a:rPr lang="en-US" sz="2200" dirty="0"/>
              <a:t>🛍️</a:t>
            </a:r>
            <a:r>
              <a:rPr lang="en-US" dirty="0"/>
              <a:t>In-store purchases positively predicts web purchases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7D467-4C96-37E8-8138-24D0F35C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763" y="1332315"/>
            <a:ext cx="4227731" cy="3267117"/>
          </a:xfrm>
          <a:prstGeom prst="rect">
            <a:avLst/>
          </a:prstGeom>
        </p:spPr>
      </p:pic>
      <p:pic>
        <p:nvPicPr>
          <p:cNvPr id="14" name="Graphic 13" descr="Play with solid fill">
            <a:extLst>
              <a:ext uri="{FF2B5EF4-FFF2-40B4-BE49-F238E27FC236}">
                <a16:creationId xmlns:a16="http://schemas.microsoft.com/office/drawing/2014/main" id="{C21E67A3-EA0D-FB4F-D749-6024E7FA5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976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3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D960-2C44-66B7-57E9-F831C86D6F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1298448" y="1674882"/>
            <a:ext cx="10055352" cy="452750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Re-think catalog strategy for web growth.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Incentivize catalog recipients to shop online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First-web-order discount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Convert catalog into an omni-channel touchpoint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Rationale: Catalog buyers less likely to buy online</a:t>
            </a:r>
            <a:endParaRPr lang="en-CA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Increase web purchases for households with children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 Create family-friendly bundles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 Promote convenience (subscription, larger pack sizes)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Rationale: </a:t>
            </a:r>
            <a:r>
              <a:rPr lang="en-US" dirty="0">
                <a:solidFill>
                  <a:prstClr val="black"/>
                </a:solidFill>
              </a:rPr>
              <a:t>Customers with kids buy less online</a:t>
            </a:r>
            <a:endParaRPr lang="en-CA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Prioritize product pages &amp; merchandising for wines and meats.</a:t>
            </a:r>
            <a:endParaRPr lang="en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Improve product page CTAs, related products, and web-exclusive bundles for top categories.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49EF3-2563-9F7B-A7A7-58331B537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984" y="5745458"/>
            <a:ext cx="2648320" cy="304843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DAC305-122B-EA07-586D-6BD3D6F84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Actionable recommendations (cont.)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0970E-1FF3-4D5B-B91A-64EAFDE05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580" y="3553465"/>
            <a:ext cx="1735642" cy="764713"/>
          </a:xfrm>
          <a:prstGeom prst="rect">
            <a:avLst/>
          </a:prstGeom>
        </p:spPr>
      </p:pic>
      <p:pic>
        <p:nvPicPr>
          <p:cNvPr id="1026" name="Picture 2" descr="Broken link - Free interface icons">
            <a:extLst>
              <a:ext uri="{FF2B5EF4-FFF2-40B4-BE49-F238E27FC236}">
                <a16:creationId xmlns:a16="http://schemas.microsoft.com/office/drawing/2014/main" id="{BB865877-81DB-2EDA-A584-5C893FD98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96" y="1969530"/>
            <a:ext cx="1052596" cy="105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F7589C6C-A2EA-9B5F-95B2-5E88BE148F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9765" y="6400583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9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iki's awesome color palett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6AF8F"/>
      </a:accent1>
      <a:accent2>
        <a:srgbClr val="EB098E"/>
      </a:accent2>
      <a:accent3>
        <a:srgbClr val="FFD81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432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Sinete</vt:lpstr>
      <vt:lpstr>Wingdings</vt:lpstr>
      <vt:lpstr>Office Theme</vt:lpstr>
      <vt:lpstr>Introduction</vt:lpstr>
      <vt:lpstr>What does the average Maven customer look like?</vt:lpstr>
      <vt:lpstr>Core customer group</vt:lpstr>
      <vt:lpstr>Which channels are most salient to this group?</vt:lpstr>
      <vt:lpstr>What factors are good predictors of web purchases?</vt:lpstr>
      <vt:lpstr>Which products are performing best?</vt:lpstr>
      <vt:lpstr>Actionable recommendations</vt:lpstr>
      <vt:lpstr>Actionable recommendations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Catherine</dc:creator>
  <cp:lastModifiedBy>Wu, Catherine</cp:lastModifiedBy>
  <cp:revision>65</cp:revision>
  <dcterms:created xsi:type="dcterms:W3CDTF">2025-11-05T19:11:16Z</dcterms:created>
  <dcterms:modified xsi:type="dcterms:W3CDTF">2025-11-15T15:46:59Z</dcterms:modified>
</cp:coreProperties>
</file>